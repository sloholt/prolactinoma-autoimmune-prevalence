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Raleway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CD9071-7975-44A5-AA19-268D18B5F5A2}">
  <a:tblStyle styleId="{C7CD9071-7975-44A5-AA19-268D18B5F5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italic.fntdata"/><Relationship Id="rId20" Type="http://schemas.openxmlformats.org/officeDocument/2006/relationships/slide" Target="slides/slide14.xml"/><Relationship Id="rId42" Type="http://schemas.openxmlformats.org/officeDocument/2006/relationships/font" Target="fonts/Lato-regular.fntdata"/><Relationship Id="rId41" Type="http://schemas.openxmlformats.org/officeDocument/2006/relationships/font" Target="fonts/Raleway-boldItalic.fntdata"/><Relationship Id="rId22" Type="http://schemas.openxmlformats.org/officeDocument/2006/relationships/slide" Target="slides/slide16.xml"/><Relationship Id="rId44" Type="http://schemas.openxmlformats.org/officeDocument/2006/relationships/font" Target="fonts/Lato-italic.fntdata"/><Relationship Id="rId21" Type="http://schemas.openxmlformats.org/officeDocument/2006/relationships/slide" Target="slides/slide15.xml"/><Relationship Id="rId43" Type="http://schemas.openxmlformats.org/officeDocument/2006/relationships/font" Target="fonts/Lat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aleway-bold.fntdata"/><Relationship Id="rId16" Type="http://schemas.openxmlformats.org/officeDocument/2006/relationships/slide" Target="slides/slide10.xml"/><Relationship Id="rId38" Type="http://schemas.openxmlformats.org/officeDocument/2006/relationships/font" Target="fonts/Raleway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2d252d61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2d252d61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2d252d61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2d252d61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2d252d61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2d252d61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2d252d61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2d252d61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96685ac3d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96685ac3d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2d252d61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2d252d61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2d252d61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2d252d61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96685ac3d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96685ac3d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e427ab9e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e427ab9e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e427ab9e9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e427ab9e9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1edd9ef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1edd9ef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e427ab9e9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e427ab9e9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e427ab9e9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e427ab9e9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2e53b9b9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2e53b9b9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2e53b9b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2e53b9b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Goal: To choose enough </a:t>
            </a:r>
            <a:r>
              <a:rPr lang="fr"/>
              <a:t>imputations</a:t>
            </a:r>
            <a:r>
              <a:rPr lang="fr"/>
              <a:t> to ensure stable, replicable results, without unnecessary computation. The required number of imputations depends on how much information is missing about the parameter.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fb006b5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fb006b5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Using the point estimate of the imputation runs a ~50% chance of being smaller than the true value which can lead to too few imputations.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fb006b5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fb006b5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1edd9efc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1edd9efc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e37a9098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e37a9098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e37a9098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e37a9098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2e53b9b9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2e53b9b9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e427ab9e9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e427ab9e9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e427ab9e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e427ab9e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fb006b5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fb006b5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2e53b9b9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2e53b9b9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2e53b9b9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92e53b9b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2e53b9b9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2e53b9b9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fb006b5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fb006b5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1e855a0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1e855a0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1e855a09b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1e855a09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Prevalence in Autoimmune Disease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Background and Motivation of the Study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8298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Prolactin (hormone of the </a:t>
            </a:r>
            <a:r>
              <a:rPr lang="fr" sz="1500"/>
              <a:t>pituitary</a:t>
            </a:r>
            <a:r>
              <a:rPr lang="fr" sz="1500"/>
              <a:t> gland) affects autoimmune response.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Literature</a:t>
            </a:r>
            <a:r>
              <a:rPr lang="fr" sz="1500"/>
              <a:t> suggests high levels of Prolactin can precipitate autoimmune response.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fr" sz="1500"/>
              <a:t>Postulate</a:t>
            </a:r>
            <a:r>
              <a:rPr lang="fr" sz="1500"/>
              <a:t>: People with hyperprolactinemia are more prone to autoimmune disease (AID). 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Method of Study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7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800"/>
              <a:t>Compare prevalence of AID between :</a:t>
            </a:r>
            <a:endParaRPr sz="1800"/>
          </a:p>
          <a:p>
            <a:pPr indent="-30734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 sz="1600"/>
              <a:t> Prolactinoma Patients (PRL)</a:t>
            </a:r>
            <a:endParaRPr sz="1600"/>
          </a:p>
          <a:p>
            <a:pPr indent="-30734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 sz="1600"/>
              <a:t>Non-Functioning Pituitary Adenoma Patients (NFPA)</a:t>
            </a:r>
            <a:endParaRPr sz="1600"/>
          </a:p>
          <a:p>
            <a:pPr indent="-30734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600"/>
              <a:t>Covariates:</a:t>
            </a:r>
            <a:endParaRPr sz="1600"/>
          </a:p>
          <a:p>
            <a:pPr indent="-30734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 sz="1600"/>
              <a:t>Age at diagnosis</a:t>
            </a:r>
            <a:endParaRPr sz="1600"/>
          </a:p>
          <a:p>
            <a:pPr indent="-30734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 sz="1600"/>
              <a:t>Ethnicity: Caucasian vs non-Caucasian</a:t>
            </a:r>
            <a:endParaRPr sz="1600"/>
          </a:p>
          <a:p>
            <a:pPr indent="-30734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 sz="1600"/>
              <a:t>Largest diameter of adenoma (mm) at diagnosis </a:t>
            </a:r>
            <a:endParaRPr sz="1600"/>
          </a:p>
          <a:p>
            <a:pPr indent="-30734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fr" sz="1600"/>
              <a:t>Sex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Descriptive Statistics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/>
              <a:t>Total Number of Observations: 215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35875" y="635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Age of Diagnosis and Sex Distributions</a:t>
            </a:r>
            <a:endParaRPr/>
          </a:p>
        </p:txBody>
      </p:sp>
      <p:graphicFrame>
        <p:nvGraphicFramePr>
          <p:cNvPr id="111" name="Google Shape;111;p17"/>
          <p:cNvGraphicFramePr/>
          <p:nvPr/>
        </p:nvGraphicFramePr>
        <p:xfrm>
          <a:off x="4505850" y="198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{C7CD9071-7975-44A5-AA19-268D18B5F5A2}</a:tableStyleId>
              </a:tblPr>
              <a:tblGrid>
                <a:gridCol w="1514075"/>
                <a:gridCol w="1514075"/>
                <a:gridCol w="1514075"/>
              </a:tblGrid>
              <a:tr h="62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Count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Percentage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29.8%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68.8%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Data Missing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1.4%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2" name="Google Shape;112;p17" title="Age_D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00" y="1900200"/>
            <a:ext cx="4035898" cy="2456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403850" y="4484800"/>
            <a:ext cx="3747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Mean : 41.56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Standard Deviation: 13.78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259400" y="1279825"/>
            <a:ext cx="74541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Age of Diagnosis was computed using the date of birth and the diagnosis date of each patient.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Ethnicity Counts</a:t>
            </a:r>
            <a:endParaRPr/>
          </a:p>
        </p:txBody>
      </p:sp>
      <p:pic>
        <p:nvPicPr>
          <p:cNvPr id="120" name="Google Shape;120;p18" title="eth-cou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550" y="920425"/>
            <a:ext cx="4648199" cy="389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Case counts by Sex and Ethnicity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2859050" y="2435325"/>
            <a:ext cx="118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Lato"/>
                <a:ea typeface="Lato"/>
                <a:cs typeface="Lato"/>
                <a:sym typeface="Lato"/>
              </a:rPr>
              <a:t>Sex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6881600" y="2435325"/>
            <a:ext cx="118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Lato"/>
                <a:ea typeface="Lato"/>
                <a:cs typeface="Lato"/>
                <a:sym typeface="Lato"/>
              </a:rPr>
              <a:t>Ethnicity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28" name="Google Shape;128;p19"/>
          <p:cNvGraphicFramePr/>
          <p:nvPr/>
        </p:nvGraphicFramePr>
        <p:xfrm>
          <a:off x="1246675" y="289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{C7CD9071-7975-44A5-AA19-268D18B5F5A2}</a:tableStyleId>
              </a:tblPr>
              <a:tblGrid>
                <a:gridCol w="1114025"/>
                <a:gridCol w="1132050"/>
                <a:gridCol w="1032825"/>
              </a:tblGrid>
              <a:tr h="49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82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9" name="Google Shape;129;p19"/>
          <p:cNvGraphicFramePr/>
          <p:nvPr/>
        </p:nvGraphicFramePr>
        <p:xfrm>
          <a:off x="5059275" y="2893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{C7CD9071-7975-44A5-AA19-268D18B5F5A2}</a:tableStyleId>
              </a:tblPr>
              <a:tblGrid>
                <a:gridCol w="999925"/>
                <a:gridCol w="1418125"/>
                <a:gridCol w="1428100"/>
              </a:tblGrid>
              <a:tr h="49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Caucasian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Non-Caucasian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41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p19"/>
          <p:cNvSpPr txBox="1"/>
          <p:nvPr/>
        </p:nvSpPr>
        <p:spPr>
          <a:xfrm>
            <a:off x="0" y="3480863"/>
            <a:ext cx="1183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Lato"/>
                <a:ea typeface="Lato"/>
                <a:cs typeface="Lato"/>
                <a:sym typeface="Lato"/>
              </a:rPr>
              <a:t>Has Autoimmune Disease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5543150" y="1401600"/>
            <a:ext cx="266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Lato"/>
                <a:ea typeface="Lato"/>
                <a:cs typeface="Lato"/>
                <a:sym typeface="Lato"/>
              </a:rPr>
              <a:t>(after ethnicity aggregation)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Distribution and Summary of Prolactin Levels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1755375"/>
            <a:ext cx="4415618" cy="31372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20"/>
          <p:cNvGraphicFramePr/>
          <p:nvPr/>
        </p:nvGraphicFramePr>
        <p:xfrm>
          <a:off x="4572000" y="223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{C7CD9071-7975-44A5-AA19-268D18B5F5A2}</a:tableStyleId>
              </a:tblPr>
              <a:tblGrid>
                <a:gridCol w="1391300"/>
                <a:gridCol w="1391300"/>
                <a:gridCol w="1391300"/>
              </a:tblGrid>
              <a:tr h="52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Median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IQR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AID present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136.0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122.0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AID absent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9.7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9.95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Distribution and Summary of Tumor Diameters</a:t>
            </a:r>
            <a:endParaRPr/>
          </a:p>
        </p:txBody>
      </p:sp>
      <p:graphicFrame>
        <p:nvGraphicFramePr>
          <p:cNvPr id="144" name="Google Shape;144;p21"/>
          <p:cNvGraphicFramePr/>
          <p:nvPr/>
        </p:nvGraphicFramePr>
        <p:xfrm>
          <a:off x="4572000" y="224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{C7CD9071-7975-44A5-AA19-268D18B5F5A2}</a:tableStyleId>
              </a:tblPr>
              <a:tblGrid>
                <a:gridCol w="1391300"/>
                <a:gridCol w="1391300"/>
                <a:gridCol w="1391300"/>
              </a:tblGrid>
              <a:tr h="52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Median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IQR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AID present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12.3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AID absent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75" y="1798200"/>
            <a:ext cx="4501726" cy="3198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Assumptions and Diagnostics of Logistic Regression on </a:t>
            </a:r>
            <a:r>
              <a:rPr lang="fr"/>
              <a:t>Incomplete</a:t>
            </a:r>
            <a:r>
              <a:rPr lang="fr"/>
              <a:t> Data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698125" y="2418425"/>
            <a:ext cx="7688700" cy="24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fr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 deleted every observation that had a missing field (16 missing observations)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fr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 fit the following logistic regression model on the listwise deleted dataset: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fr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 check the assumptions and the validity of the model on the incomplete dataset.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750" y="3496475"/>
            <a:ext cx="8015250" cy="444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20725" y="709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Linearity of Continuous Variables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620725" y="2480638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500" y="1896450"/>
            <a:ext cx="4571999" cy="324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896450"/>
            <a:ext cx="4571999" cy="324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Checking for Interaction Terms</a:t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861225" y="1863850"/>
            <a:ext cx="62634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 separately checked for interaction between the following variables: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fr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Case and Age of Diagnosis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fr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Case and Sex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fr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Case and Largest Diameter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t-tests for these interactions were not significant.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Multicollinearity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729450" y="3326125"/>
            <a:ext cx="7688700" cy="10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VIF all below 2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We can assume there is no multicollinearity</a:t>
            </a:r>
            <a:endParaRPr/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350" y="2011900"/>
            <a:ext cx="7143034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727650" y="600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(Simulated) Residual Plots</a:t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625" y="1341875"/>
            <a:ext cx="8130751" cy="38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Overview of Missing Data</a:t>
            </a:r>
            <a:endParaRPr/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3 values from Sex (MAR)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fr">
                <a:solidFill>
                  <a:schemeClr val="dk2"/>
                </a:solidFill>
              </a:rPr>
              <a:t>Binary variable → use logistic regression for imputation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16 values from Largest Diameter (MAR)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fr">
                <a:solidFill>
                  <a:schemeClr val="dk2"/>
                </a:solidFill>
              </a:rPr>
              <a:t>Continuous variable → use predictive mean matching for imputation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2"/>
                </a:solidFill>
              </a:rPr>
              <a:t>Missing data requires multiple imputation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Imputation Procedure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729450" y="1853850"/>
            <a:ext cx="7688700" cy="28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Used the R package mice for multiple imputation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Selected relevant variables, excluding non-predictive columns (line </a:t>
            </a:r>
            <a:r>
              <a:rPr lang="fr">
                <a:solidFill>
                  <a:srgbClr val="000000"/>
                </a:solidFill>
              </a:rPr>
              <a:t>number</a:t>
            </a:r>
            <a:r>
              <a:rPr lang="fr">
                <a:solidFill>
                  <a:srgbClr val="000000"/>
                </a:solidFill>
              </a:rPr>
              <a:t>, ID, dates)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More imputations → more precise estimates up to a point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</a:rPr>
              <a:t>howManyImputations: R package that automatically calculates how many imputations are needed.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Software output 4 imputations needed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</a:rPr>
              <a:t>Verification: Manually calculated the number of imputations needed based on von Hippel’s 2 step recipe using the quadratic rule.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Calculated ≅3.55 imputations needed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Process for Calculating Number of Imputations:</a:t>
            </a:r>
            <a:endParaRPr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fr" sz="1600"/>
              <a:t>Used the benchmark m=20 for a pooled imputation to get a base FMI value.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fr" sz="1600"/>
              <a:t>Calculated the logit of the FMI to use in calculating the upper bound of a 95% CI 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Upper bound is more conservative estimate since there is only a 2.5% chance that the implied number of imputations will be too low. 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fr" sz="1600"/>
              <a:t>Used the upper bound to calculate the inverse logit since FMI is bounded and approximately normal only on the logit scale.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fr" sz="1600"/>
              <a:t>Used the inverse logit value for the FMI in the imputation formula: </a:t>
            </a:r>
            <a:endParaRPr sz="1600"/>
          </a:p>
        </p:txBody>
      </p:sp>
      <p:pic>
        <p:nvPicPr>
          <p:cNvPr id="199" name="Google Shape;1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175" y="4119700"/>
            <a:ext cx="2179075" cy="8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Imputation Model Variables</a:t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729450" y="1998825"/>
            <a:ext cx="7688700" cy="25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case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Age_Dx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Sex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Ethnicity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Prolactin_Dx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Largest_d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AID_Y_N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000000"/>
                </a:solidFill>
              </a:rPr>
              <a:t>All variables were treated as factors or continuous as appropriate.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620700" y="117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Imputation Model Diagnostics</a:t>
            </a:r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727650" y="1712475"/>
            <a:ext cx="76887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146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63"/>
              <a:buChar char="●"/>
            </a:pPr>
            <a:r>
              <a:rPr lang="fr" sz="1463"/>
              <a:t>To analyze the plausibility of the imputations, we</a:t>
            </a:r>
            <a:r>
              <a:rPr lang="fr" sz="1463"/>
              <a:t> can compare the distributions of:</a:t>
            </a:r>
            <a:endParaRPr sz="1463"/>
          </a:p>
          <a:p>
            <a:pPr indent="-32432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8"/>
              <a:buChar char="○"/>
            </a:pPr>
            <a:r>
              <a:rPr lang="fr" sz="1508"/>
              <a:t>The Original Data (in</a:t>
            </a:r>
            <a:r>
              <a:rPr lang="fr" sz="1508">
                <a:solidFill>
                  <a:srgbClr val="0000FF"/>
                </a:solidFill>
              </a:rPr>
              <a:t> blue</a:t>
            </a:r>
            <a:r>
              <a:rPr lang="fr" sz="1508"/>
              <a:t>)</a:t>
            </a:r>
            <a:endParaRPr sz="1508"/>
          </a:p>
          <a:p>
            <a:pPr indent="-32432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8"/>
              <a:buChar char="○"/>
            </a:pPr>
            <a:r>
              <a:rPr lang="fr" sz="1508"/>
              <a:t>The Imputed Data (in </a:t>
            </a:r>
            <a:r>
              <a:rPr lang="fr" sz="1508">
                <a:solidFill>
                  <a:srgbClr val="FF0000"/>
                </a:solidFill>
              </a:rPr>
              <a:t>red</a:t>
            </a:r>
            <a:r>
              <a:rPr lang="fr" sz="1508"/>
              <a:t>)</a:t>
            </a:r>
            <a:endParaRPr sz="1508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008"/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81325"/>
            <a:ext cx="4188575" cy="220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775" y="2829200"/>
            <a:ext cx="4110275" cy="211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Assumptions and Diagnostics</a:t>
            </a:r>
            <a:endParaRPr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In order to check assumptions for the model using imputed datasets, we decided to work on a single instance of imputed data to check assumptions and run diagnostics.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/>
              <a:t>Reasoning: Since it’s difficult to check assumptions and run diagnostics on pooled results, going about it this way still gives us ways to assess our model without too many complications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/>
              <a:t>Drawback: We lose the variability between imputations when only looking at one particular imputation,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Assumptions: VIF Values (Multicolinearity)</a:t>
            </a:r>
            <a:endParaRPr/>
          </a:p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>
            <a:off x="729450" y="3180200"/>
            <a:ext cx="76887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Since VIF values are all very close to 1 we can safely say there is no multicolinearity within the data</a:t>
            </a:r>
            <a:endParaRPr/>
          </a:p>
        </p:txBody>
      </p:sp>
      <p:pic>
        <p:nvPicPr>
          <p:cNvPr id="226" name="Google Shape;2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675" y="2078875"/>
            <a:ext cx="8696325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Assumptions: Linearity of Continuous Predictors</a:t>
            </a:r>
            <a:endParaRPr/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Check a few, explain procedure and drawbacks with respect to multiple imputations</a:t>
            </a:r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71" y="1853850"/>
            <a:ext cx="4415618" cy="313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5000" y="1853850"/>
            <a:ext cx="4415626" cy="3137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Residual Plots</a:t>
            </a:r>
            <a:endParaRPr/>
          </a:p>
        </p:txBody>
      </p:sp>
      <p:pic>
        <p:nvPicPr>
          <p:cNvPr id="240" name="Google Shape;2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848" y="1853850"/>
            <a:ext cx="5231901" cy="335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Residual Plots</a:t>
            </a:r>
            <a:endParaRPr/>
          </a:p>
        </p:txBody>
      </p:sp>
      <p:pic>
        <p:nvPicPr>
          <p:cNvPr id="246" name="Google Shape;2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650" y="1853850"/>
            <a:ext cx="4630126" cy="328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Logistic Regression Model Specification</a:t>
            </a:r>
            <a:endParaRPr/>
          </a:p>
        </p:txBody>
      </p:sp>
      <p:sp>
        <p:nvSpPr>
          <p:cNvPr id="252" name="Google Shape;252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Outcome: AID_Y_N (binary indicator)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Model Form: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Estimation: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Model fit separately on each imputed dataset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Coefficients and standard errors pooled using Rubin’s Rules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Link Function: Logit (binomial GLM)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300" y="2996163"/>
            <a:ext cx="7688700" cy="42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Logistic Regression Model Variables</a:t>
            </a:r>
            <a:endParaRPr/>
          </a:p>
        </p:txBody>
      </p:sp>
      <p:sp>
        <p:nvSpPr>
          <p:cNvPr id="259" name="Google Shape;259;p38"/>
          <p:cNvSpPr txBox="1"/>
          <p:nvPr>
            <p:ph idx="1" type="body"/>
          </p:nvPr>
        </p:nvSpPr>
        <p:spPr>
          <a:xfrm>
            <a:off x="729450" y="2078875"/>
            <a:ext cx="7688700" cy="25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</a:rPr>
              <a:t>Fit on each imputed dataset.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AID_Y_N (outcome)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case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Age_Dx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Sex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Ethnicity_Category (derived from ethnicity)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Largest_d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Pooled Results</a:t>
            </a:r>
            <a:endParaRPr/>
          </a:p>
        </p:txBody>
      </p:sp>
      <p:sp>
        <p:nvSpPr>
          <p:cNvPr id="265" name="Google Shape;265;p39"/>
          <p:cNvSpPr txBox="1"/>
          <p:nvPr>
            <p:ph idx="1" type="body"/>
          </p:nvPr>
        </p:nvSpPr>
        <p:spPr>
          <a:xfrm>
            <a:off x="729450" y="3393000"/>
            <a:ext cx="7688700" cy="14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Case group (case1): Significant, OR ≈ exp(0.721) ≈ 2.06</a:t>
            </a:r>
            <a:endParaRPr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 sz="1300">
                <a:solidFill>
                  <a:srgbClr val="000000"/>
                </a:solidFill>
              </a:rPr>
              <a:t>A</a:t>
            </a:r>
            <a:r>
              <a:rPr lang="fr" sz="1300">
                <a:solidFill>
                  <a:srgbClr val="000000"/>
                </a:solidFill>
              </a:rPr>
              <a:t>bout 2x higher odds of AID for case = 1 (vs reference group)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Age at Diagnosis (Age_Dx): Significant, OR ≈ exp(0.0379) ≈ 1.039</a:t>
            </a:r>
            <a:endParaRPr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 sz="1300">
                <a:solidFill>
                  <a:srgbClr val="000000"/>
                </a:solidFill>
              </a:rPr>
              <a:t>Each additional year increases odds of AID by about 4%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Sex, largest diameter, and ethnicity category: not statistically significant in this model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66" name="Google Shape;266;p39" title="Screenshot 2026-01-26 at 10.29.12 AM.png"/>
          <p:cNvPicPr preferRelativeResize="0"/>
          <p:nvPr/>
        </p:nvPicPr>
        <p:blipFill rotWithShape="1">
          <a:blip r:embed="rId3">
            <a:alphaModFix/>
          </a:blip>
          <a:srcRect b="0" l="0" r="0" t="2430"/>
          <a:stretch/>
        </p:blipFill>
        <p:spPr>
          <a:xfrm>
            <a:off x="729450" y="1795850"/>
            <a:ext cx="7688698" cy="14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Odds Ratio Confidence Intervals</a:t>
            </a:r>
            <a:endParaRPr/>
          </a:p>
        </p:txBody>
      </p:sp>
      <p:sp>
        <p:nvSpPr>
          <p:cNvPr id="272" name="Google Shape;272;p40"/>
          <p:cNvSpPr txBox="1"/>
          <p:nvPr>
            <p:ph idx="1" type="body"/>
          </p:nvPr>
        </p:nvSpPr>
        <p:spPr>
          <a:xfrm>
            <a:off x="727650" y="3818000"/>
            <a:ext cx="76887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95% CI for odds ratios, predictors are statistically significant when the CI excludes 1.</a:t>
            </a:r>
            <a:endParaRPr/>
          </a:p>
        </p:txBody>
      </p:sp>
      <p:grpSp>
        <p:nvGrpSpPr>
          <p:cNvPr id="273" name="Google Shape;273;p40"/>
          <p:cNvGrpSpPr/>
          <p:nvPr/>
        </p:nvGrpSpPr>
        <p:grpSpPr>
          <a:xfrm>
            <a:off x="1465773" y="2077957"/>
            <a:ext cx="6212463" cy="1556688"/>
            <a:chOff x="3976475" y="3667275"/>
            <a:chExt cx="4212125" cy="1055525"/>
          </a:xfrm>
        </p:grpSpPr>
        <p:pic>
          <p:nvPicPr>
            <p:cNvPr id="274" name="Google Shape;274;p40" title="Screenshot 2026-01-26 at 10.49.46 AM.png"/>
            <p:cNvPicPr preferRelativeResize="0"/>
            <p:nvPr/>
          </p:nvPicPr>
          <p:blipFill rotWithShape="1">
            <a:blip r:embed="rId3">
              <a:alphaModFix/>
            </a:blip>
            <a:srcRect b="0" l="0" r="58890" t="0"/>
            <a:stretch/>
          </p:blipFill>
          <p:spPr>
            <a:xfrm>
              <a:off x="3976475" y="3667275"/>
              <a:ext cx="2883123" cy="1055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40" title="Screenshot 2026-01-26 at 10.49.46 AM.png"/>
            <p:cNvPicPr preferRelativeResize="0"/>
            <p:nvPr/>
          </p:nvPicPr>
          <p:blipFill rotWithShape="1">
            <a:blip r:embed="rId3">
              <a:alphaModFix/>
            </a:blip>
            <a:srcRect b="0" l="81050" r="0" t="0"/>
            <a:stretch/>
          </p:blipFill>
          <p:spPr>
            <a:xfrm>
              <a:off x="6859599" y="3667275"/>
              <a:ext cx="1329001" cy="10555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How do we get the results given 4 imputations? </a:t>
            </a:r>
            <a:endParaRPr/>
          </a:p>
        </p:txBody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729450" y="2078875"/>
            <a:ext cx="76887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Ruben’s Rule:</a:t>
            </a:r>
            <a:r>
              <a:rPr lang="fr"/>
              <a:t> Assumes that the repeated parameter estimates are normally distributed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fr"/>
              <a:t>Parameter estimate:</a:t>
            </a:r>
            <a:r>
              <a:rPr lang="fr"/>
              <a:t> sum of the pooled mean differences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fr"/>
              <a:t>Standard error</a:t>
            </a:r>
            <a:r>
              <a:rPr lang="fr"/>
              <a:t>: Total variance = within imputation variance + between imputation variance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fr"/>
              <a:t>Inference</a:t>
            </a:r>
            <a:r>
              <a:rPr lang="fr"/>
              <a:t>: Wald statistic that follows a t-distribution with adjusted degrees of freedom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For the variable Largest_d: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Distribution is approximately symmetric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No evidence of skewedness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Slight tail deviation because of small number of imputations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Rubin’s Rule remains appropriate for imputing Largest_d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Pooled Results (100 imputations)</a:t>
            </a:r>
            <a:endParaRPr/>
          </a:p>
        </p:txBody>
      </p:sp>
      <p:pic>
        <p:nvPicPr>
          <p:cNvPr id="287" name="Google Shape;2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1776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Pooled Results (20 imputations)</a:t>
            </a:r>
            <a:endParaRPr/>
          </a:p>
        </p:txBody>
      </p:sp>
      <p:pic>
        <p:nvPicPr>
          <p:cNvPr id="293" name="Google Shape;2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1909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